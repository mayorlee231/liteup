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teup-utility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0"/>
            <a:ext cx="7025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0B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5120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9F3E8"/>
                </a:solidFill>
                <a:latin typeface="Aptos"/>
              </a:defRPr>
            </a:pPr>
            <a:r>
              <a:t>LITEUP  /  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486400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A safer</a:t>
            </a:r>
          </a:p>
          <a:p>
            <a:pPr>
              <a:spcAft>
                <a:spcPts val="6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way to pay.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84632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Seven common web risks, explained simply, with safe checks you can run on your own localhost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3931920" cy="502920"/>
          </a:xfrm>
          <a:prstGeom prst="roundRect">
            <a:avLst>
              <a:gd name="adj" fmla="val 8000"/>
            </a:avLst>
          </a:prstGeom>
          <a:solidFill>
            <a:srgbClr val="F0B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404104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2820"/>
                </a:solidFill>
                <a:latin typeface="Aptos"/>
              </a:defRPr>
            </a:pPr>
            <a:r>
              <a:t>DEMO TARGET: http://localhost:8080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49377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For education and authorized local testing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47D59"/>
                </a:solidFill>
                <a:latin typeface="Aptos"/>
              </a:defRPr>
            </a:pPr>
            <a:r>
              <a:t>01  / 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02820"/>
                </a:solidFill>
                <a:latin typeface="Aptos"/>
              </a:defRPr>
            </a:pPr>
            <a:r>
              <a:t>Files: accept safely, include predictably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13716"/>
          </a:xfrm>
          <a:prstGeom prst="rect">
            <a:avLst/>
          </a:prstGeom>
          <a:solidFill>
            <a:srgbClr val="D5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96D61"/>
                </a:solidFill>
                <a:latin typeface="Aptos"/>
              </a:defRPr>
            </a:pPr>
            <a:r>
              <a:t>LITEUP  /  LOCAL SECURITY WALKTHROUGH                                    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34924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68580" cy="1901952"/>
          </a:xfrm>
          <a:prstGeom prst="rect">
            <a:avLst/>
          </a:prstGeom>
          <a:solidFill>
            <a:srgbClr val="A6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Upload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95144"/>
            <a:ext cx="4965192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A renamed file can still contain the wrong content. A public upload folder can expose private documents or run scripts if server rules are weak.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534924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68580" cy="1901952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Local safe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95144"/>
            <a:ext cx="4965192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Sign in with a test account. Try attaching a harmless .txt file as a profile image. Expected: rejected. Never upload executable files.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22191"/>
            <a:ext cx="5349240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822191"/>
            <a:ext cx="68580" cy="1975104"/>
          </a:xfrm>
          <a:prstGeom prst="rect">
            <a:avLst/>
          </a:prstGeom>
          <a:solidFill>
            <a:srgbClr val="A6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986783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File inclusion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425696"/>
            <a:ext cx="4965192" cy="12435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A page must never use a visitor-provided path as include/require input. That could expose local files or load unexpected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822191"/>
            <a:ext cx="5349240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822191"/>
            <a:ext cx="68580" cy="1975104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86783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LiteUp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25696"/>
            <a:ext cx="4965192" cy="12435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Random server filenames, content/size checks, fixed include paths, and private storage for funding proofs. Apache also denies direct proof-folder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47D59"/>
                </a:solidFill>
                <a:latin typeface="Aptos"/>
              </a:defRPr>
            </a:pPr>
            <a:r>
              <a:t>02  /  BROWSER &amp;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02820"/>
                </a:solidFill>
                <a:latin typeface="Aptos"/>
              </a:defRPr>
            </a:pPr>
            <a:r>
              <a:t>Cross-site access and system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13716"/>
          </a:xfrm>
          <a:prstGeom prst="rect">
            <a:avLst/>
          </a:prstGeom>
          <a:solidFill>
            <a:srgbClr val="D5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96D61"/>
                </a:solidFill>
                <a:latin typeface="Aptos"/>
              </a:defRPr>
            </a:pPr>
            <a:r>
              <a:t>LITEUP  /  LOCAL SECURITY WALKTHROUGH                                    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68580" cy="192024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CORS: safe local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95144"/>
            <a:ext cx="4965192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251E"/>
                </a:solidFill>
                <a:latin typeface="Aptos"/>
              </a:defRPr>
            </a:pPr>
            <a:r>
              <a:t>curl.exe -i -H "Origin: https://attacker.invalid" http://localhost:8080/liteup_app/public/login.php</a:t>
            </a:r>
          </a:p>
          <a:p>
            <a:pPr>
              <a:spcAft>
                <a:spcPts val="600"/>
              </a:spcAft>
              <a:defRPr sz="1300" b="0">
                <a:solidFill>
                  <a:srgbClr val="17251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7251E"/>
                </a:solidFill>
                <a:latin typeface="Aptos"/>
              </a:defRPr>
            </a:pPr>
            <a:r>
              <a:t>Expected: no Access-Control-Allow-Origin header.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68580" cy="1920240"/>
          </a:xfrm>
          <a:prstGeom prst="rect">
            <a:avLst/>
          </a:prstGeom>
          <a:solidFill>
            <a:srgbClr val="1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What that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95144"/>
            <a:ext cx="4965192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A different website should not be able to read LiteUp responses unless you explicitly allow it. Do not add a wildcard origin to account or wallet pages.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4048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840480"/>
            <a:ext cx="68580" cy="196596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00507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Command injection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443984"/>
            <a:ext cx="4965192" cy="12344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7251E"/>
                </a:solidFill>
                <a:latin typeface="Aptos"/>
              </a:defRPr>
            </a:pPr>
            <a:r>
              <a:t>Get-ChildItem .\public,.\admin,.\includes -Recurse -Filter *.php | Select-String "shell_exec|system\s*\(|exec\s*\(|passthru|proc_open"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84048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840480"/>
            <a:ext cx="68580" cy="1965960"/>
          </a:xfrm>
          <a:prstGeom prst="rect">
            <a:avLst/>
          </a:prstGeom>
          <a:solidFill>
            <a:srgbClr val="1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0507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Expected &amp;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43984"/>
            <a:ext cx="4965192" cy="12344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No command-execution sink should appear. If a shell call is ever needed, use a library first; never concatenate visitor input into a command.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47D59"/>
                </a:solidFill>
                <a:latin typeface="Aptos"/>
              </a:defRPr>
            </a:pPr>
            <a:r>
              <a:t>03  /  SIGN-IN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02820"/>
                </a:solidFill>
                <a:latin typeface="Aptos"/>
              </a:defRPr>
            </a:pPr>
            <a:r>
              <a:t>Brute force: slow repeated guessing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13716"/>
          </a:xfrm>
          <a:prstGeom prst="rect">
            <a:avLst/>
          </a:prstGeom>
          <a:solidFill>
            <a:srgbClr val="D5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96D61"/>
                </a:solidFill>
                <a:latin typeface="Aptos"/>
              </a:defRPr>
            </a:pPr>
            <a:r>
              <a:t>LITEUP  /  LOCAL SECURITY WALKTHROUGH                                    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68580" cy="196596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Safe local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95144"/>
            <a:ext cx="4965192" cy="12344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7251E"/>
                </a:solidFill>
                <a:latin typeface="Aptos"/>
              </a:defRPr>
            </a:pPr>
            <a:r>
              <a:t>From the project folder run:</a:t>
            </a:r>
          </a:p>
          <a:p>
            <a:pPr>
              <a:spcAft>
                <a:spcPts val="600"/>
              </a:spcAft>
              <a:defRPr sz="1500" b="0">
                <a:solidFill>
                  <a:srgbClr val="17251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7251E"/>
                </a:solidFill>
                <a:latin typeface="Aptos"/>
              </a:defRPr>
            </a:pPr>
            <a:r>
              <a:t>php tests/test_rate_limiter.php</a:t>
            </a:r>
          </a:p>
          <a:p>
            <a:pPr>
              <a:spcAft>
                <a:spcPts val="600"/>
              </a:spcAft>
              <a:defRPr sz="1500" b="0">
                <a:solidFill>
                  <a:srgbClr val="17251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7251E"/>
                </a:solidFill>
                <a:latin typeface="Aptos"/>
              </a:defRPr>
            </a:pPr>
            <a:r>
              <a:t>Expected: attempts 1–5 allowed; attempt 6 blocked.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68580" cy="1965960"/>
          </a:xfrm>
          <a:prstGeom prst="rect">
            <a:avLst/>
          </a:prstGeom>
          <a:solidFill>
            <a:srgbClr val="A6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What an attacker 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95144"/>
            <a:ext cx="4965192" cy="12344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Automated repeated passwords against a login form. Use only the disposable test identity in the local test. Do not use real accounts or password lists.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8620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886200"/>
            <a:ext cx="68580" cy="1920240"/>
          </a:xfrm>
          <a:prstGeom prst="rect">
            <a:avLst/>
          </a:prstGeom>
          <a:solidFill>
            <a:srgbClr val="1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050791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LiteUp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489704"/>
            <a:ext cx="4965192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Atomic locked rate-limit counter, generic login errors, password_hash/password_verify, email verification, and a sign-in code on new devices.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88620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886200"/>
            <a:ext cx="68580" cy="1920240"/>
          </a:xfrm>
          <a:prstGeom prst="rect">
            <a:avLst/>
          </a:prstGeom>
          <a:solidFill>
            <a:srgbClr val="F0B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50791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Before a big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9704"/>
            <a:ext cx="4965192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The local file limiter is for one server. Replace it with shared Redis/database limits for multiple servers; add admin MFA and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47D59"/>
                </a:solidFill>
                <a:latin typeface="Aptos"/>
              </a:defRPr>
            </a:pPr>
            <a:r>
              <a:t>04  / 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02820"/>
                </a:solidFill>
                <a:latin typeface="Aptos"/>
              </a:defRPr>
            </a:pPr>
            <a:r>
              <a:t>SQL injection: keep input as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13716"/>
          </a:xfrm>
          <a:prstGeom prst="rect">
            <a:avLst/>
          </a:prstGeom>
          <a:solidFill>
            <a:srgbClr val="D5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96D61"/>
                </a:solidFill>
                <a:latin typeface="Aptos"/>
              </a:defRPr>
            </a:pPr>
            <a:r>
              <a:t>LITEUP  /  LOCAL SECURITY WALKTHROUGH                                    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68580" cy="192024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Safe form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95144"/>
            <a:ext cx="4965192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  <a:r>
              <a:t>On the local login page, enter this as the identity:</a:t>
            </a:r>
          </a:p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  <a:r>
              <a:t>' OR '1'='1' --</a:t>
            </a:r>
          </a:p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  <a:r>
              <a:t>Use any wrong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68580" cy="1920240"/>
          </a:xfrm>
          <a:prstGeom prst="rect">
            <a:avLst/>
          </a:prstGeom>
          <a:solidFill>
            <a:srgbClr val="1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95144"/>
            <a:ext cx="4965192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7251E"/>
                </a:solidFill>
                <a:latin typeface="Aptos"/>
              </a:defRPr>
            </a:pPr>
            <a:r>
              <a:t>Login fails with the ordinary generic message. No database error, account access, or data change should occur.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4048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840480"/>
            <a:ext cx="68580" cy="192024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00507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How it is 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443984"/>
            <a:ext cx="4965192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7251E"/>
                </a:solidFill>
                <a:latin typeface="Aptos"/>
              </a:defRPr>
            </a:pPr>
            <a:r>
              <a:t>Prepared SQL with ? placeholders and bind_param(). The database treats the text as one value, not SQL instructions.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84048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840480"/>
            <a:ext cx="68580" cy="1920240"/>
          </a:xfrm>
          <a:prstGeom prst="rect">
            <a:avLst/>
          </a:prstGeom>
          <a:solidFill>
            <a:srgbClr val="F0B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0507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Keep checking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43984"/>
            <a:ext cx="4965192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Use prepared statements for every user-derived query. Validate identifiers and allowed actions too; validation alone does not replace prepared statements.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47D59"/>
                </a:solidFill>
                <a:latin typeface="Aptos"/>
              </a:defRPr>
            </a:pPr>
            <a:r>
              <a:t>05  / 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02820"/>
                </a:solidFill>
                <a:latin typeface="Aptos"/>
              </a:defRPr>
            </a:pPr>
            <a:r>
              <a:t>CSRF: prove the user intended the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13716"/>
          </a:xfrm>
          <a:prstGeom prst="rect">
            <a:avLst/>
          </a:prstGeom>
          <a:solidFill>
            <a:srgbClr val="D5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96D61"/>
                </a:solidFill>
                <a:latin typeface="Aptos"/>
              </a:defRPr>
            </a:pPr>
            <a:r>
              <a:t>LITEUP  /  LOCAL SECURITY WALKTHROUGH                                    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68580" cy="201168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Safe local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95144"/>
            <a:ext cx="4965192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curl.exe -i http://localhost:8080/liteup_app/public/logout.php</a:t>
            </a:r>
          </a:p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Expected: 405 Method Not Allowed.</a:t>
            </a:r>
          </a:p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A POST without a form token should return 403.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68580" cy="2011680"/>
          </a:xfrm>
          <a:prstGeom prst="rect">
            <a:avLst/>
          </a:prstGeom>
          <a:solidFill>
            <a:srgbClr val="A6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What an attacker 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95144"/>
            <a:ext cx="4965192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A different website tries to make your already-signed-in browser submit an action you did not choose, such as changing a password or approving a request.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534924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13632"/>
            <a:ext cx="68580" cy="1938528"/>
          </a:xfrm>
          <a:prstGeom prst="rect">
            <a:avLst/>
          </a:prstGeom>
          <a:solidFill>
            <a:srgbClr val="1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078224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LiteUp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517136"/>
            <a:ext cx="4965192" cy="12070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Forms include a random session token. The server checks it with hash_equals(). Destructive actions use POST, not a clickable GET link.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913632"/>
            <a:ext cx="534924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913632"/>
            <a:ext cx="68580" cy="1938528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78224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What protected looks like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17136"/>
            <a:ext cx="4965192" cy="12070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7251E"/>
                </a:solidFill>
                <a:latin typeface="Aptos"/>
              </a:defRPr>
            </a:pPr>
            <a:r>
              <a:t>Missing or wrong token: request rejected. Valid form submitted by the user: action continues. Test only on localhost.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47D59"/>
                </a:solidFill>
                <a:latin typeface="Aptos"/>
              </a:defRPr>
            </a:pPr>
            <a:r>
              <a:t>06  / 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02820"/>
                </a:solidFill>
                <a:latin typeface="Aptos"/>
              </a:defRPr>
            </a:pPr>
            <a:r>
              <a:t>The seven checks, one simple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13716"/>
          </a:xfrm>
          <a:prstGeom prst="rect">
            <a:avLst/>
          </a:prstGeom>
          <a:solidFill>
            <a:srgbClr val="D5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96D61"/>
                </a:solidFill>
                <a:latin typeface="Aptos"/>
              </a:defRPr>
            </a:pPr>
            <a:r>
              <a:t>LITEUP  /  LOCAL SECURITY WALKTHROUGH                                    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68580" cy="3566160"/>
          </a:xfrm>
          <a:prstGeom prst="rect">
            <a:avLst/>
          </a:prstGeom>
          <a:solidFill>
            <a:srgbClr val="1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Before every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95144"/>
            <a:ext cx="4965192" cy="28346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  <a:r>
              <a:t>□ Uploads: validate type/content/size; keep proofs private</a:t>
            </a:r>
          </a:p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  <a:r>
              <a:t>□ Includes: fixed paths only</a:t>
            </a:r>
          </a:p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  <a:r>
              <a:t>□ CORS: no wildcard for private data</a:t>
            </a:r>
          </a:p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  <a:r>
              <a:t>□ Brute force: rate-limit sign-in and code requests</a:t>
            </a:r>
          </a:p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  <a:r>
              <a:t>□ Commands: do not send user input to a shell</a:t>
            </a:r>
          </a:p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  <a:r>
              <a:t>□ SQL: prepare and bind every input value</a:t>
            </a:r>
          </a:p>
          <a:p>
            <a:pPr>
              <a:spcAft>
                <a:spcPts val="600"/>
              </a:spcAft>
              <a:defRPr sz="1600" b="0">
                <a:solidFill>
                  <a:srgbClr val="17251E"/>
                </a:solidFill>
                <a:latin typeface="Aptos"/>
              </a:defRPr>
            </a:pPr>
            <a:r>
              <a:t>□ CSRF: token on every state-changing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68580" cy="3566160"/>
          </a:xfrm>
          <a:prstGeom prst="rect">
            <a:avLst/>
          </a:prstGeom>
          <a:solidFill>
            <a:srgbClr val="F0B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2"/>
            <a:ext cx="49651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Important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95144"/>
            <a:ext cx="4965192" cy="28346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7251E"/>
                </a:solidFill>
                <a:latin typeface="Aptos"/>
              </a:defRPr>
            </a:pPr>
            <a:r>
              <a:t>These checks cover your local source and demo environment; they are not a certification or a guarantee of safety.</a:t>
            </a:r>
          </a:p>
          <a:p>
            <a:pPr>
              <a:spcAft>
                <a:spcPts val="600"/>
              </a:spcAft>
              <a:defRPr sz="1700" b="0">
                <a:solidFill>
                  <a:srgbClr val="17251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17251E"/>
                </a:solidFill>
                <a:latin typeface="Aptos"/>
              </a:defRPr>
            </a:pPr>
            <a:r>
              <a:t>Production still needs HTTPS, secure hosting, backups, least-privilege database access, monitoring, provider integrations, and an independent security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02820"/>
                </a:solidFill>
                <a:latin typeface="Aptos"/>
              </a:defRPr>
            </a:pPr>
            <a:r>
              <a:t>LiteUp: requests are tracked honestly; provider delivery is not claimed until integrated.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