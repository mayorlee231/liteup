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teup-utility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80760" y="0"/>
            <a:ext cx="502920" cy="6858000"/>
          </a:xfrm>
          <a:prstGeom prst="rect">
            <a:avLst/>
          </a:prstGeom>
          <a:solidFill>
            <a:srgbClr val="1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77240"/>
            <a:ext cx="621792" cy="73152"/>
          </a:xfrm>
          <a:prstGeom prst="rect">
            <a:avLst/>
          </a:prstGeom>
          <a:solidFill>
            <a:srgbClr val="ED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78992"/>
            <a:ext cx="5212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1">
                <a:solidFill>
                  <a:srgbClr val="D9F3E8"/>
                </a:solidFill>
                <a:latin typeface="Aptos"/>
              </a:defRPr>
            </a:pPr>
            <a:r>
              <a:t>LITEUP  / 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5349240" cy="2331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Safer utility</a:t>
            </a:r>
            <a:br/>
            <a:r>
              <a:t>payments, made</a:t>
            </a:r>
            <a:br/>
            <a:r>
              <a:t>easy to explain.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370832"/>
            <a:ext cx="50292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800" b="0">
                <a:solidFill>
                  <a:srgbClr val="DAE6DE"/>
                </a:solidFill>
                <a:latin typeface="Aptos"/>
              </a:defRPr>
            </a:pPr>
            <a:r>
              <a:t>A short guide to common web risks, safe local checks, and what LiteUp does to reduce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172200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D9F3E8"/>
                </a:solidFill>
                <a:latin typeface="Aptos"/>
              </a:defRPr>
            </a:pPr>
            <a:r>
              <a:t>Security briefing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147D59"/>
                </a:solidFill>
                <a:latin typeface="Aptos"/>
              </a:defRPr>
            </a:pPr>
            <a:r>
              <a:t>START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102820"/>
                </a:solidFill>
                <a:latin typeface="Aptos"/>
              </a:defRPr>
            </a:pPr>
            <a:r>
              <a:t>A simple way to think about web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73952"/>
            <a:ext cx="10881360" cy="13716"/>
          </a:xfrm>
          <a:prstGeom prst="rect">
            <a:avLst/>
          </a:prstGeom>
          <a:solidFill>
            <a:srgbClr val="D6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47104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>
                <a:solidFill>
                  <a:srgbClr val="5B6F64"/>
                </a:solidFill>
                <a:latin typeface="Aptos"/>
              </a:defRPr>
            </a:pPr>
            <a:r>
              <a:t>LITEUP  |  LOCAL SECURITY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147D5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3493008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64208"/>
            <a:ext cx="73152" cy="3566160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47088"/>
            <a:ext cx="30723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02820"/>
                </a:solidFill>
                <a:latin typeface="Aptos"/>
              </a:defRPr>
            </a:pPr>
            <a:r>
              <a:t>1  Check the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67712"/>
            <a:ext cx="3072384" cy="2816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17251E"/>
                </a:solidFill>
                <a:latin typeface="Aptos"/>
              </a:defRPr>
            </a:pPr>
            <a:r>
              <a:t>A browser is not a trusted source. Validate every form on the server, even if the page already has required fields.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664208"/>
            <a:ext cx="3493008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1664208"/>
            <a:ext cx="73152" cy="3566160"/>
          </a:xfrm>
          <a:prstGeom prst="rect">
            <a:avLst/>
          </a:prstGeom>
          <a:solidFill>
            <a:srgbClr val="ED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47088"/>
            <a:ext cx="30723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02820"/>
                </a:solidFill>
                <a:latin typeface="Aptos"/>
              </a:defRPr>
            </a:pPr>
            <a:r>
              <a:t>2  Protect the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67712"/>
            <a:ext cx="3072384" cy="2816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17251E"/>
                </a:solidFill>
                <a:latin typeface="Aptos"/>
              </a:defRPr>
            </a:pPr>
            <a:r>
              <a:t>Use prepared SQL, CSRF tokens, login limits, and role checks before changing accounts or money.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64208"/>
            <a:ext cx="3493008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664208"/>
            <a:ext cx="73152" cy="3566160"/>
          </a:xfrm>
          <a:prstGeom prst="rect">
            <a:avLst/>
          </a:prstGeom>
          <a:solidFill>
            <a:srgbClr val="AB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847088"/>
            <a:ext cx="30723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02820"/>
                </a:solidFill>
                <a:latin typeface="Aptos"/>
              </a:defRPr>
            </a:pPr>
            <a:r>
              <a:t>3  Verify the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267712"/>
            <a:ext cx="3072384" cy="2816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17251E"/>
                </a:solidFill>
                <a:latin typeface="Aptos"/>
              </a:defRPr>
            </a:pPr>
            <a:r>
              <a:t>Test only your localhost app and dummy accounts. A protected test should fail safely, without changing real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504688"/>
            <a:ext cx="10881360" cy="603504"/>
          </a:xfrm>
          <a:prstGeom prst="roundRect">
            <a:avLst>
              <a:gd name="adj" fmla="val 8000"/>
            </a:avLst>
          </a:prstGeom>
          <a:solidFill>
            <a:srgbClr val="D9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687568"/>
            <a:ext cx="10332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>
                <a:solidFill>
                  <a:srgbClr val="102820"/>
                </a:solidFill>
                <a:latin typeface="Aptos"/>
              </a:defRPr>
            </a:pPr>
            <a:r>
              <a:t>These checks are for your own local LiteUp instance only. Do not test systems you do not 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147D59"/>
                </a:solidFill>
                <a:latin typeface="Aptos"/>
              </a:defRPr>
            </a:pPr>
            <a:r>
              <a:t>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102820"/>
                </a:solidFill>
                <a:latin typeface="Aptos"/>
              </a:defRPr>
            </a:pPr>
            <a:r>
              <a:t>SQL injection and file inclusion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73952"/>
            <a:ext cx="10881360" cy="13716"/>
          </a:xfrm>
          <a:prstGeom prst="rect">
            <a:avLst/>
          </a:prstGeom>
          <a:solidFill>
            <a:srgbClr val="D6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47104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>
                <a:solidFill>
                  <a:srgbClr val="5B6F64"/>
                </a:solidFill>
                <a:latin typeface="Aptos"/>
              </a:defRPr>
            </a:pPr>
            <a:r>
              <a:t>LITEUP  |  LOCAL SECURITY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147D5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09344"/>
            <a:ext cx="523036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09344"/>
            <a:ext cx="73152" cy="1828800"/>
          </a:xfrm>
          <a:prstGeom prst="rect">
            <a:avLst/>
          </a:prstGeom>
          <a:solidFill>
            <a:srgbClr val="AB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792224"/>
            <a:ext cx="48097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02820"/>
                </a:solidFill>
                <a:latin typeface="Aptos"/>
              </a:defRPr>
            </a:pPr>
            <a:r>
              <a:t>If vulnerable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12848"/>
            <a:ext cx="4809744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17251E"/>
                </a:solidFill>
                <a:latin typeface="Aptos"/>
              </a:defRPr>
            </a:pPr>
            <a:r>
              <a:t>A crafted login could bypass the sign-in check or expose records. A request-chosen file could expose private server 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09344"/>
            <a:ext cx="54132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609344"/>
            <a:ext cx="73152" cy="1828800"/>
          </a:xfrm>
          <a:prstGeom prst="rect">
            <a:avLst/>
          </a:prstGeom>
          <a:solidFill>
            <a:srgbClr val="ED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792224"/>
            <a:ext cx="499262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02820"/>
                </a:solidFill>
                <a:latin typeface="Aptos"/>
              </a:defRPr>
            </a:pPr>
            <a:r>
              <a:t>LiteUp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212848"/>
            <a:ext cx="4992624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17251E"/>
                </a:solidFill>
                <a:latin typeface="Aptos"/>
              </a:defRPr>
            </a:pPr>
            <a:r>
              <a:t>Prepared statements bind values separately. PHP includes use fixed application paths; request values do not choose files.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75887"/>
            <a:ext cx="10881360" cy="2240280"/>
          </a:xfrm>
          <a:prstGeom prst="roundRect">
            <a:avLst>
              <a:gd name="adj" fmla="val 8000"/>
            </a:avLst>
          </a:prstGeom>
          <a:solidFill>
            <a:srgbClr val="1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13632"/>
            <a:ext cx="9966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1">
                <a:solidFill>
                  <a:srgbClr val="D9F3E8"/>
                </a:solidFill>
                <a:latin typeface="Aptos"/>
              </a:defRPr>
            </a:pPr>
            <a:r>
              <a:t>SAFE LOCAL CHECK  |  sign-in form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9392"/>
            <a:ext cx="42976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onsolas"/>
              </a:defRPr>
            </a:pPr>
            <a:r>
              <a:t>Test identity with a wrong password:</a:t>
            </a:r>
            <a:br/>
            <a:r>
              <a:t>' OR 1=1 --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57150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D9F3E8"/>
                </a:solidFill>
                <a:latin typeface="Consolas"/>
              </a:defRPr>
            </a:pPr>
            <a:r>
              <a:t>PROTECTED CODE  |  public/login.php:18</a:t>
            </a:r>
            <a:br/>
            <a:r>
              <a:t>WHERE email = ? OR phone = ?</a:t>
            </a:r>
            <a:br/>
            <a:r>
              <a:t>$stmt-&gt;bind_param("ss", $identity, $identity);</a:t>
            </a:r>
            <a:br/>
            <a:r>
              <a:t>Expected: “Invalid login details”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3803904"/>
            <a:ext cx="3822191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evidence-sql-in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3849624"/>
            <a:ext cx="3730752" cy="20985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78040" y="5980176"/>
            <a:ext cx="3822191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>
                <a:solidFill>
                  <a:srgbClr val="D9F3E8"/>
                </a:solidFill>
                <a:latin typeface="Aptos"/>
              </a:defRPr>
            </a:pPr>
            <a:r>
              <a:t>REAL LOCAL TEST  |  Rejected; no SQL error or login.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147D59"/>
                </a:solidFill>
                <a:latin typeface="Aptos"/>
              </a:defRPr>
            </a:pPr>
            <a:r>
              <a:t>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102820"/>
                </a:solidFill>
                <a:latin typeface="Aptos"/>
              </a:defRPr>
            </a:pPr>
            <a:r>
              <a:t>CSRF and password guessing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73952"/>
            <a:ext cx="10881360" cy="13716"/>
          </a:xfrm>
          <a:prstGeom prst="rect">
            <a:avLst/>
          </a:prstGeom>
          <a:solidFill>
            <a:srgbClr val="D6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47104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>
                <a:solidFill>
                  <a:srgbClr val="5B6F64"/>
                </a:solidFill>
                <a:latin typeface="Aptos"/>
              </a:defRPr>
            </a:pPr>
            <a:r>
              <a:t>LITEUP  |  LOCAL SECURITY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147D5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5230368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27632"/>
            <a:ext cx="73152" cy="1901952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10512"/>
            <a:ext cx="48097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02820"/>
                </a:solidFill>
                <a:latin typeface="Aptos"/>
              </a:defRPr>
            </a:pPr>
            <a:r>
              <a:t>CSRF: a forged click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31136"/>
            <a:ext cx="4809744" cy="11521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17251E"/>
                </a:solidFill>
                <a:latin typeface="Aptos"/>
              </a:defRPr>
            </a:pPr>
            <a:r>
              <a:t>If vulnerable, a site could make your browser submit an action you did not choose. LiteUp checks a session token on POST forms.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27632"/>
            <a:ext cx="5413248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627632"/>
            <a:ext cx="73152" cy="1901952"/>
          </a:xfrm>
          <a:prstGeom prst="rect">
            <a:avLst/>
          </a:prstGeom>
          <a:solidFill>
            <a:srgbClr val="ED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810512"/>
            <a:ext cx="499262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02820"/>
                </a:solidFill>
                <a:latin typeface="Aptos"/>
              </a:defRPr>
            </a:pPr>
            <a:r>
              <a:t>Brute force: repeated guesses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231136"/>
            <a:ext cx="4992624" cy="11521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17251E"/>
                </a:solidFill>
                <a:latin typeface="Aptos"/>
              </a:defRPr>
            </a:pPr>
            <a:r>
              <a:t>If vulnerable, an attacker could keep guessing passwords. LiteUp limits attempts; the local test blocks after five.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794760"/>
            <a:ext cx="10881360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986784"/>
            <a:ext cx="6126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1">
                <a:solidFill>
                  <a:srgbClr val="147D59"/>
                </a:solidFill>
                <a:latin typeface="Aptos"/>
              </a:defRPr>
            </a:pPr>
            <a:r>
              <a:t>SAFE LOCAL CHECKS  |  PowerShell, from the project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370832"/>
            <a:ext cx="6080760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1">
                <a:solidFill>
                  <a:srgbClr val="17251E"/>
                </a:solidFill>
                <a:latin typeface="Consolas"/>
              </a:defRPr>
            </a:pPr>
            <a:r>
              <a:t>php .\test_rate_limiter.php</a:t>
            </a:r>
            <a:br/>
            <a:r>
              <a:t>curl.exe -i http://localhost:8080/liteup_app/public/logout.php</a:t>
            </a:r>
            <a:br/>
            <a:r>
              <a:t>curl.exe -i -X POST http://localhost:8080/liteup_app/public/logout.php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596128"/>
            <a:ext cx="60807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0">
                <a:solidFill>
                  <a:srgbClr val="17251E"/>
                </a:solidFill>
                <a:latin typeface="Aptos"/>
              </a:defRPr>
            </a:pPr>
            <a:r>
              <a:t>Expected: 1–5 allowed, then blocked (includes/security.php:67). GET = 405; POST without CSRF = 403. Token: hash_equals() at includes/security.php:37.</a:t>
            </a:r>
          </a:p>
        </p:txBody>
      </p:sp>
      <p:pic>
        <p:nvPicPr>
          <p:cNvPr id="20" name="Picture 19" descr="evidence-csrf-log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3931920"/>
            <a:ext cx="3886200" cy="21854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23760" y="6099048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>
                <a:solidFill>
                  <a:srgbClr val="147D59"/>
                </a:solidFill>
                <a:latin typeface="Aptos"/>
              </a:defRPr>
            </a:pPr>
            <a:r>
              <a:t>REAL LOCAL TEST  |  GET blocked with 405.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147D59"/>
                </a:solidFill>
                <a:latin typeface="Aptos"/>
              </a:defRPr>
            </a:pPr>
            <a:r>
              <a:t>INPUT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102820"/>
                </a:solidFill>
                <a:latin typeface="Aptos"/>
              </a:defRPr>
            </a:pPr>
            <a:r>
              <a:t>Safe checks for uploads and request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73952"/>
            <a:ext cx="10881360" cy="13716"/>
          </a:xfrm>
          <a:prstGeom prst="rect">
            <a:avLst/>
          </a:prstGeom>
          <a:solidFill>
            <a:srgbClr val="D6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47104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>
                <a:solidFill>
                  <a:srgbClr val="5B6F64"/>
                </a:solidFill>
                <a:latin typeface="Aptos"/>
              </a:defRPr>
            </a:pPr>
            <a:r>
              <a:t>LITEUP  |  LOCAL SECURITY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147D5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2615184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27632"/>
            <a:ext cx="73152" cy="4370832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10512"/>
            <a:ext cx="2194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02820"/>
                </a:solidFill>
                <a:latin typeface="Aptos"/>
              </a:defRPr>
            </a:pPr>
            <a:r>
              <a:t>File uploads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31136"/>
            <a:ext cx="2194560" cy="3621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17251E"/>
                </a:solidFill>
                <a:latin typeface="Aptos"/>
              </a:defRPr>
            </a:pPr>
            <a:r>
              <a:t>If vulnerable: a script might run or private files leak.</a:t>
            </a:r>
            <a:br/>
            <a:br/>
            <a:r>
              <a:t>Test: upload a harmless .txt as a profile picture.</a:t>
            </a:r>
            <a:br/>
            <a:br/>
            <a:r>
              <a:t>Protected: rejected; image contents, size, and type checked.</a:t>
            </a:r>
            <a:br/>
            <a:r>
              <a:t>Code: profile.php:50.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1627632"/>
            <a:ext cx="2615184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9856" y="1627632"/>
            <a:ext cx="73152" cy="4370832"/>
          </a:xfrm>
          <a:prstGeom prst="rect">
            <a:avLst/>
          </a:prstGeom>
          <a:solidFill>
            <a:srgbClr val="ED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1810512"/>
            <a:ext cx="2194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02820"/>
                </a:solidFill>
                <a:latin typeface="Aptos"/>
              </a:defRPr>
            </a:pPr>
            <a:r>
              <a:t>File inclusion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231136"/>
            <a:ext cx="2194560" cy="3621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17251E"/>
                </a:solidFill>
                <a:latin typeface="Aptos"/>
              </a:defRPr>
            </a:pPr>
            <a:r>
              <a:t>If vulnerable: private server files could be exposed.</a:t>
            </a:r>
            <a:br/>
            <a:br/>
            <a:r>
              <a:t>Test: scan include/require paths.</a:t>
            </a:r>
            <a:br/>
            <a:br/>
            <a:r>
              <a:t>Protected: fixed project paths only; no request-selected file.</a:t>
            </a:r>
            <a:br/>
            <a:r>
              <a:t>Code: includes/auth.php.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627632"/>
            <a:ext cx="2615184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627632"/>
            <a:ext cx="73152" cy="4370832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10512"/>
            <a:ext cx="2194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02820"/>
                </a:solidFill>
                <a:latin typeface="Aptos"/>
              </a:defRPr>
            </a:pPr>
            <a:r>
              <a:t>CORS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31136"/>
            <a:ext cx="2194560" cy="3621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0">
                <a:solidFill>
                  <a:srgbClr val="17251E"/>
                </a:solidFill>
                <a:latin typeface="Aptos"/>
              </a:defRPr>
            </a:pPr>
            <a:r>
              <a:t>If too open: another site may read private responses.</a:t>
            </a:r>
            <a:br/>
            <a:br/>
            <a:r>
              <a:t>Test locally:</a:t>
            </a:r>
            <a:br/>
            <a:r>
              <a:t>curl -i -H "Origin: https://attacker.invalid" http://localhost:8080/liteup_app/public/login.php</a:t>
            </a:r>
            <a:br/>
            <a:br/>
            <a:r>
              <a:t>Protected: no allow-origin header.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42832" y="1627632"/>
            <a:ext cx="2596896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42832" y="1627632"/>
            <a:ext cx="73152" cy="4370832"/>
          </a:xfrm>
          <a:prstGeom prst="rect">
            <a:avLst/>
          </a:prstGeom>
          <a:solidFill>
            <a:srgbClr val="AB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2288" y="1810512"/>
            <a:ext cx="21762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02820"/>
                </a:solidFill>
                <a:latin typeface="Aptos"/>
              </a:defRPr>
            </a:pPr>
            <a:r>
              <a:t>Command injection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231136"/>
            <a:ext cx="2176272" cy="3621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0">
                <a:solidFill>
                  <a:srgbClr val="17251E"/>
                </a:solidFill>
                <a:latin typeface="Aptos"/>
              </a:defRPr>
            </a:pPr>
            <a:r>
              <a:t>If vulnerable: input could trigger an OS command.</a:t>
            </a:r>
            <a:br/>
            <a:br/>
            <a:r>
              <a:t>Scan only; do not run a payload:</a:t>
            </a:r>
            <a:br/>
            <a:r>
              <a:t>Select-String -Path .\public\*.php -Pattern "shell_exec|system|exec|passthru"</a:t>
            </a:r>
            <a:br/>
            <a:br/>
            <a:r>
              <a:t>Protected: no command sinks found.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147D59"/>
                </a:solidFill>
                <a:latin typeface="Aptos"/>
              </a:defRPr>
            </a:pPr>
            <a:r>
              <a:t>WHAT REMAINS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102820"/>
                </a:solidFill>
                <a:latin typeface="Aptos"/>
              </a:defRPr>
            </a:pPr>
            <a:r>
              <a:t>Good code helps; production also needs good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73952"/>
            <a:ext cx="10881360" cy="13716"/>
          </a:xfrm>
          <a:prstGeom prst="rect">
            <a:avLst/>
          </a:prstGeom>
          <a:solidFill>
            <a:srgbClr val="D6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47104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>
                <a:solidFill>
                  <a:srgbClr val="5B6F64"/>
                </a:solidFill>
                <a:latin typeface="Aptos"/>
              </a:defRPr>
            </a:pPr>
            <a:r>
              <a:t>LITEUP  |  LOCAL SECURITY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147D5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5230368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27632"/>
            <a:ext cx="73152" cy="3520440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10512"/>
            <a:ext cx="48097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02820"/>
                </a:solidFill>
                <a:latin typeface="Aptos"/>
              </a:defRPr>
            </a:pPr>
            <a:r>
              <a:t>In the application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31136"/>
            <a:ext cx="4809744" cy="2770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17251E"/>
                </a:solidFill>
                <a:latin typeface="Aptos"/>
              </a:defRPr>
            </a:pPr>
            <a:r>
              <a:t>• Prepared SQL · public/login.php:18</a:t>
            </a:r>
            <a:br/>
            <a:r>
              <a:t>• CSRF · includes/security.php:37</a:t>
            </a:r>
            <a:br/>
            <a:r>
              <a:t>• Login throttling · includes/security.php:67</a:t>
            </a:r>
            <a:br/>
            <a:r>
              <a:t>• Upload verification · public/profile.php:50</a:t>
            </a:r>
            <a:br/>
            <a:r>
              <a:t>• Idempotent utility/tamper payments + refunds</a:t>
            </a:r>
            <a:br/>
            <a:r>
              <a:t>• CSP blocks inline JavaScript</a:t>
            </a:r>
            <a:br/>
            <a:r>
              <a:t>• Private proof downloads and escaped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27632"/>
            <a:ext cx="5413248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627632"/>
            <a:ext cx="73152" cy="3520440"/>
          </a:xfrm>
          <a:prstGeom prst="rect">
            <a:avLst/>
          </a:prstGeom>
          <a:solidFill>
            <a:srgbClr val="ED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810512"/>
            <a:ext cx="499262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02820"/>
                </a:solidFill>
                <a:latin typeface="Aptos"/>
              </a:defRPr>
            </a:pPr>
            <a:r>
              <a:t>Before a company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231136"/>
            <a:ext cx="4992624" cy="2770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17251E"/>
                </a:solidFill>
                <a:latin typeface="Aptos"/>
              </a:defRPr>
            </a:pPr>
            <a:r>
              <a:t>• HTTPS with a valid certificate</a:t>
            </a:r>
            <a:br/>
            <a:r>
              <a:t>• Least-privilege production database user</a:t>
            </a:r>
            <a:br/>
            <a:r>
              <a:t>• Backups and restore drills</a:t>
            </a:r>
            <a:br/>
            <a:r>
              <a:t>• Provider APIs, settlement and reconciliation</a:t>
            </a:r>
            <a:br/>
            <a:r>
              <a:t>• Central logs, monitoring, incident plan</a:t>
            </a:r>
            <a:br/>
            <a:r>
              <a:t>• Independent penetration test and privacy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44068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D9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650992"/>
            <a:ext cx="10241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1">
                <a:solidFill>
                  <a:srgbClr val="102820"/>
                </a:solidFill>
                <a:latin typeface="Aptos"/>
              </a:defRPr>
            </a:pPr>
            <a:r>
              <a:t>LiteUp uses manual operations today. Airtime/data/electricity are not automatically delivered until provider APIs are integrated.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